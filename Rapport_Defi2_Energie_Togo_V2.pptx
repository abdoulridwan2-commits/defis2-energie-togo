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Évolution de l'accès à l'électricité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Urbain</c:v>
                </c:pt>
              </c:strCache>
            </c:strRef>
          </c:tx>
          <c:spPr>
            <a:solidFill>
              <a:srgbClr val="4A90D9"/>
            </a:solidFill>
            <a:ln w="31750" cap="flat">
              <a:solidFill>
                <a:srgbClr val="4A90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0D9"/>
              </a:solidFill>
              <a:ln w="9525" cap="flat">
                <a:solidFill>
                  <a:srgbClr val="4A90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1998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2018</c:v>
                  </c:pt>
                  <c:pt idx="5">
                    <c:v>2022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41.2</c:v>
                </c:pt>
                <c:pt idx="1">
                  <c:v>55</c:v>
                </c:pt>
                <c:pt idx="2">
                  <c:v>70</c:v>
                </c:pt>
                <c:pt idx="3">
                  <c:v>84</c:v>
                </c:pt>
                <c:pt idx="4">
                  <c:v>90</c:v>
                </c:pt>
                <c:pt idx="5">
                  <c:v>96.5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National</c:v>
                </c:pt>
              </c:strCache>
            </c:strRef>
          </c:tx>
          <c:spPr>
            <a:solidFill>
              <a:srgbClr val="1F3B57"/>
            </a:solidFill>
            <a:ln w="31750" cap="flat">
              <a:solidFill>
                <a:srgbClr val="1F3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B57"/>
              </a:solidFill>
              <a:ln w="9525" cap="flat">
                <a:solidFill>
                  <a:srgbClr val="1F3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1998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2018</c:v>
                  </c:pt>
                  <c:pt idx="5">
                    <c:v>2022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15.3</c:v>
                </c:pt>
                <c:pt idx="1">
                  <c:v>22</c:v>
                </c:pt>
                <c:pt idx="2">
                  <c:v>31</c:v>
                </c:pt>
                <c:pt idx="3">
                  <c:v>41</c:v>
                </c:pt>
                <c:pt idx="4">
                  <c:v>48</c:v>
                </c:pt>
                <c:pt idx="5">
                  <c:v>57.2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6B7280"/>
            </a:solidFill>
            <a:ln w="3175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1998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2018</c:v>
                  </c:pt>
                  <c:pt idx="5">
                    <c:v>2022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3.1</c:v>
                </c:pt>
                <c:pt idx="1">
                  <c:v>6</c:v>
                </c:pt>
                <c:pt idx="2">
                  <c:v>11</c:v>
                </c:pt>
                <c:pt idx="3">
                  <c:v>17</c:v>
                </c:pt>
                <c:pt idx="4">
                  <c:v>20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Combustible principal de cuisson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Combustible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B57"/>
              </a:solidFill>
              <a:effectLst/>
            </c:spPr>
          </c:dPt>
          <c:dPt>
            <c:idx val="1"/>
            <c:bubble3D val="0"/>
            <c:spPr>
              <a:solidFill>
                <a:srgbClr val="7A5230"/>
              </a:solidFill>
              <a:effectLst/>
            </c:spPr>
          </c:dPt>
          <c:dPt>
            <c:idx val="2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bubble3D val="0"/>
            <c:spPr>
              <a:solidFill>
                <a:srgbClr val="C9C9C9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Bois</c:v>
                </c:pt>
                <c:pt idx="1">
                  <c:v>Charbon</c:v>
                </c:pt>
                <c:pt idx="2">
                  <c:v>Gaz/LPG</c:v>
                </c:pt>
                <c:pt idx="3">
                  <c:v>Autres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51.8</c:v>
                </c:pt>
                <c:pt idx="1">
                  <c:v>37.6</c:v>
                </c:pt>
                <c:pt idx="2">
                  <c:v>8.8</c:v>
                </c:pt>
                <c:pt idx="3">
                  <c:v>1.8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Émissions de GES par secteur (Gg CO2eq)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Émissions (Gg CO2eq)</c:v>
                </c:pt>
              </c:strCache>
            </c:strRef>
          </c:tx>
          <c:spPr>
            <a:solidFill>
              <a:srgbClr val="1F3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Déchets</c:v>
                  </c:pt>
                  <c:pt idx="1">
                    <c:v>Procédés industriels</c:v>
                  </c:pt>
                  <c:pt idx="2">
                    <c:v>Énergie</c:v>
                  </c:pt>
                  <c:pt idx="3">
                    <c:v>Agriculture &amp; Foresterie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14.18</c:v>
                </c:pt>
                <c:pt idx="1">
                  <c:v>2480.79</c:v>
                </c:pt>
                <c:pt idx="2">
                  <c:v>2517.92</c:v>
                </c:pt>
                <c:pt idx="3">
                  <c:v>35830.45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Température maximale moyenne par ville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Température max moyenne (°C)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Kouma konda</c:v>
                  </c:pt>
                  <c:pt idx="1">
                    <c:v>Atakpamé</c:v>
                  </c:pt>
                  <c:pt idx="2">
                    <c:v>Lomé</c:v>
                  </c:pt>
                  <c:pt idx="3">
                    <c:v>Niamtougou</c:v>
                  </c:pt>
                  <c:pt idx="4">
                    <c:v>Sotouboua</c:v>
                  </c:pt>
                  <c:pt idx="5">
                    <c:v>Sokodé</c:v>
                  </c:pt>
                  <c:pt idx="6">
                    <c:v>Tabligbo</c:v>
                  </c:pt>
                  <c:pt idx="7">
                    <c:v>Kara</c:v>
                  </c:pt>
                  <c:pt idx="8">
                    <c:v>Dapaong</c:v>
                  </c:pt>
                  <c:pt idx="9">
                    <c:v>Mango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29.1</c:v>
                </c:pt>
                <c:pt idx="1">
                  <c:v>32.3</c:v>
                </c:pt>
                <c:pt idx="2">
                  <c:v>32.3</c:v>
                </c:pt>
                <c:pt idx="3">
                  <c:v>32.7</c:v>
                </c:pt>
                <c:pt idx="4">
                  <c:v>33.2</c:v>
                </c:pt>
                <c:pt idx="5">
                  <c:v>33.3</c:v>
                </c:pt>
                <c:pt idx="6">
                  <c:v>33.9</c:v>
                </c:pt>
                <c:pt idx="7">
                  <c:v>34.3</c:v>
                </c:pt>
                <c:pt idx="8">
                  <c:v>34.3</c:v>
                </c:pt>
                <c:pt idx="9">
                  <c:v>35.5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6B7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DÃFI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Ãnergie &amp; Transition Ã©cologique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Togo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AccÃ¨s Ã  l'Ã©lectricitÃ©, Ã©nergies propres et protection des forÃªts â un tableau de bord interactif pour Ã©clairer la dÃ©cision publique.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Abdoulaye Ridwan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2 GÃ©ographie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problÃ©matique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Togo vise l'accÃ¨s universel Ã  l'Ã©lectricitÃ© d'ici 2030, tout en dÃ©veloppant les Ã©nergies propres et en protÃ©geant ses forÃªts.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0F2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96,5%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d'accÃ¨s Ã  l'Ã©lectricitÃ©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zone urbaine (2022)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87452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0F2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80560" y="2926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en zone rurale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â un Ã©cart de 71,5 points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0F2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89,4%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83880" y="2926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mÃ©nages cuisinent encore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bois ou au charbon (2017)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109960" cy="1965960"/>
          </a:xfrm>
          <a:prstGeom prst="roundRect">
            <a:avLst>
              <a:gd name="adj" fmla="val 4651"/>
            </a:avLst>
          </a:prstGeom>
          <a:solidFill>
            <a:srgbClr val="1F3B5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double dÃ©fi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Ãlectrifier les campagnes tout en rÃ©duisant la dÃ©pendance au bois de chauffe â deux besoins Ã©nergÃ©tiques qui, mal gÃ©rÃ©s, accÃ©lÃ¨rent ensemble le recul des forÃªts togolaises.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MÃ©thodologie &amp; donnÃ©es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36245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AccÃ¨s Ã  l'Ã©lectricitÃ©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(WDI) â national / rural / urbain, 1998-2022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2F6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36245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Ãnergie des mÃ©nages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737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(WDI) â combustibles de cuisson, 2000-2022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3B5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5968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Ãmissions de GES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DonnÃ©es nationales â par secteur et type de gaz, 2018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4688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25968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secteur Ã©lectrique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2971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â Mt CO2e, 1970-2022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38313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Ãnergies renouvelables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206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â % de l'Ã©nergie totale, 1971-2014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703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3B57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38313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TempÃ©ratures &amp; forÃªts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4206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DonnÃ©es nationales â 10 villes (2013-2019) et 53 zones classÃ©es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: suppression des doublons, filtrage de 3 437 indicateurs Ã  20 pertinents, harmonisation des noms de colonnes  Â·  Outils : Python (Pandas), Streamlit, Plotly, Folium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AccÃ¨s Ã  l'Ã©lectricitÃ©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fossÃ© persistant entre villes et campagnes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6304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5727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+41,9 pts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95528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national depuis 1998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26680" y="297180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308152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Ã8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955280" y="3657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l'accÃ¨s rural a Ã©tÃ© multipliÃ© par 8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4480560"/>
            <a:ext cx="388620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45902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71,5 pts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955280" y="5166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d'Ã©cart urbain/rural en 2022</a:t>
            </a:r>
            <a:endParaRPr lang="en-US" sz="1150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/>
            </a:pPr>
            <a:r>
              <a:t>InterprÃ©tation : l'accÃ¨s rural atteint 25 % contre 96,5 % en zone urbaine en 2022, soit 71,5 points d'Ã©cart. La prioritÃ© est l'Ã©lectrification dÃ©centralisÃ©e des villages par kits solaires et mini-rÃ©seaux.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Ãnergie des mÃ©nages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bois et le charbon dominent trÃ¨s largement la cuisson (2017)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630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6" name="Shape 3"/>
          <p:cNvSpPr/>
          <p:nvPr/>
        </p:nvSpPr>
        <p:spPr>
          <a:xfrm>
            <a:off x="6355080" y="1783080"/>
            <a:ext cx="109728" cy="6858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159105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89,4 %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29400" y="20299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mÃ©nages togolais dÃ©pendent du bois ou du charbon pour cuisiner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297180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3291840"/>
            <a:ext cx="109728" cy="6858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3099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11,9 %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29400" y="35387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ont accÃ¨s Ã  une cuisson propre (gaz, Ã©lectricitÃ©) en 2022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448056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6355080" y="4800600"/>
            <a:ext cx="109728" cy="6858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46085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35 830 Gg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29400" y="50474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d'Ã©missions liÃ©es Ã  l'agriculture et la foresterie â 1er poste national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/>
            </a:pPr>
            <a:r>
              <a:t>InterprÃ©tation : la dÃ©pendance au bois et au charbon reste trÃ¨s Ã©levÃ©e. Les foyers amÃ©liorÃ©s, le gaz et le biogaz constituent des leviers directs pour rÃ©duire la pression sur les ressources forestiÃ¨res.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Ãmissions polluantes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L'agriculture et la foresterie dominent le bilan national (2018)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79476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5727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87,7 %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046720" y="2103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Ã©missions totales viennent de l'agriculture et la foresterie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18120" y="2971800"/>
            <a:ext cx="379476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0" y="30815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6,2 %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46720" y="3611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pour le secteur de l'Ã©nergie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18120" y="4480560"/>
            <a:ext cx="3794760" cy="1325880"/>
          </a:xfrm>
          <a:prstGeom prst="roundRect">
            <a:avLst>
              <a:gd name="adj" fmla="val 6897"/>
            </a:avLst>
          </a:prstGeom>
          <a:solidFill>
            <a:srgbClr val="F0F2F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45902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Ã3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046720" y="5120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CO2 du secteur Ã©lectrique a triplÃ© depuis 1970 (0,08 â 0,24 Mt)</a:t>
            </a:r>
            <a:endParaRPr lang="en-US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/>
            </a:pPr>
            <a:r>
              <a:t>InterprÃ©tation : l'agriculture et la foresterie reprÃ©sentent le principal poste d'Ã©missions, tandis que l'Ã©nergie pÃ¨se moins dans le total. La stratÃ©gie doit combiner transition Ã©nergÃ©tique et protection des forÃªts.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Variations climatiques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tempÃ©ratures qui augmentent du Sud vers le Nord (2013-2019)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F3B57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303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Ãcart de 6,4Â°C entre Kouma konda (relief, la plus fraÃ®che) et Mango (Nord, la plus chaude) â les besoins en climatisation et en Ã©nergie augmentent avec la latitude, renforÃ§ant la pression sur le rÃ©seau Ã©lectrique dans le Nord.</a:t>
            </a:r>
            <a:endParaRPr lang="en-US" sz="1300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/>
            </a:pPr>
            <a:r>
              <a:t>InterprÃ©tation : l'Ã©cart thermique entre les villes peut renforcer les besoins Ã©nergÃ©tiques, notamment dans le Nord. L'efficacitÃ© Ã©nergÃ©tique et le solaire peuvent limiter la pression sur le rÃ©seau.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Cartographie des forÃªts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zones protÃ©gÃ©es et forÃªts classÃ©es, rÃ©parties sur 5 rÃ©gions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77440" y="1645920"/>
            <a:ext cx="6263640" cy="36576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2423160"/>
            <a:ext cx="3776472" cy="365760"/>
          </a:xfrm>
          <a:prstGeom prst="roundRect">
            <a:avLst>
              <a:gd name="adj" fmla="val 12500"/>
            </a:avLst>
          </a:prstGeom>
          <a:solidFill>
            <a:srgbClr val="1F3B57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3200400"/>
            <a:ext cx="3154680" cy="365760"/>
          </a:xfrm>
          <a:prstGeom prst="roundRect">
            <a:avLst>
              <a:gd name="adj" fmla="val 12500"/>
            </a:avLst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77440" y="3977640"/>
            <a:ext cx="2221992" cy="365760"/>
          </a:xfrm>
          <a:prstGeom prst="roundRect">
            <a:avLst>
              <a:gd name="adj" fmla="val 12500"/>
            </a:avLst>
          </a:prstGeom>
          <a:solidFill>
            <a:srgbClr val="7A5230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3931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77440" y="4754880"/>
            <a:ext cx="1289304" cy="365760"/>
          </a:xfrm>
          <a:prstGeom prst="roundRect">
            <a:avLst>
              <a:gd name="adj" fmla="val 12500"/>
            </a:avLst>
          </a:prstGeom>
          <a:solidFill>
            <a:srgbClr val="6B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4709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560320" cy="3931920"/>
          </a:xfrm>
          <a:prstGeom prst="roundRect">
            <a:avLst>
              <a:gd name="adj" fmla="val 4286"/>
            </a:avLst>
          </a:prstGeom>
          <a:solidFill>
            <a:srgbClr val="F0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23544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classÃ©es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total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18320" y="3657600"/>
            <a:ext cx="18288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840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Plateaux concentrent 38 % des forÃªts classÃ©es du pays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complÃ¨te (marqueurs, filtre par rÃ©gion) disponible dans le dashboard Streamlit.</a:t>
            </a:r>
            <a:endParaRPr lang="en-US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/>
            </a:pPr>
            <a:r>
              <a:t>Priorisation : les Plateaux concentrent 20 des 53 zones classÃ©es (38 %). Le suivi des zones protÃ©gÃ©es doit Ãªtre associÃ© Ã  des alternatives de cuisson et d'Ã©nergie pour les populations riveraines.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Recommandations pratiques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66160" cy="5120640"/>
          </a:xfrm>
          <a:prstGeom prst="roundRect">
            <a:avLst>
              <a:gd name="adj" fmla="val 2564"/>
            </a:avLst>
          </a:prstGeom>
          <a:solidFill>
            <a:srgbClr val="F0F2F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63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Ãlectrification rurale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solaires individuels et mini-rÃ©seaux dans les villages isolÃ©s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les zones rurales denses et peu couvertes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RÃ©duire dÃ©lais et coÃ»ts de raccordement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566160" cy="5120640"/>
          </a:xfrm>
          <a:prstGeom prst="roundRect">
            <a:avLst>
              <a:gd name="adj" fmla="val 2564"/>
            </a:avLst>
          </a:prstGeom>
          <a:solidFill>
            <a:srgbClr val="F0F2F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463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Cuisson propre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Subventionner foyers amÃ©liorÃ©s et gaz (LPG)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Sensibiliser les mÃ©nages ruraux Ã  la dÃ©forestation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DÃ©velopper des filiÃ¨res locales de biogaz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188720"/>
            <a:ext cx="3566160" cy="5120640"/>
          </a:xfrm>
          <a:prstGeom prst="roundRect">
            <a:avLst>
              <a:gd name="adj" fmla="val 2564"/>
            </a:avLst>
          </a:prstGeom>
          <a:solidFill>
            <a:srgbClr val="F0F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1463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F3B57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2104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des forÃªts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la surveillance des 53 zones classÃ©es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Ã©nergÃ©tiques pour les communes limitrophes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â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Reboisement prioritaire dans les zones Plateaux/Kara</a:t>
            </a:r>
            <a:endParaRPr lang="en-US" sz="1250" dirty="0"/>
          </a:p>
        </p:txBody>
      </p:sp>
      <p:sp>
        <p:nvSpPr>
          <p:cNvPr id="18" name="TextBox 17"/>
          <p:cNvSpPr txBox="1"/>
          <p:nvPr/>
        </p:nvSpPr>
        <p:spPr>
          <a:xfrm>
            <a:off x="5897880" y="1417320"/>
            <a:ext cx="5212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4  FiabilitÃ© du rÃ©seau</a:t>
            </a:r>
            <a:br/>
            <a:r>
              <a:t>RÃ©duire les coupures et les dÃ©lais de raccordement dans les zones prioritaires.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788920"/>
            <a:ext cx="5212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5  Ãnergies renouvelables</a:t>
            </a:r>
            <a:br/>
            <a:r>
              <a:t>AccÃ©lÃ©rer le solaire dÃ©centralisÃ© pour les villages isolÃ©s et les services essentiels.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160520"/>
            <a:ext cx="5212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6  Suivi territorial</a:t>
            </a:r>
            <a:br/>
            <a:r>
              <a:t>Croiser accÃ¨s Ã  l'Ã©lectricitÃ©, climat et forÃªts pour cibler les investissements.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4A90D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6B7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8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interactif complet (filtres, carte, sÃ©lecteurs) est disponible dans le livrable Streamlit associÃ©.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DÃ©fi 2 â Ãnergie &amp; Transition Ã©cologique au Togo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Abdoulaye Ridwan Â· Licence 2 GÃ©ographie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/>
            </a:pPr>
            <a:r>
              <a:t>Conclusion : les donnÃ©es montrent un double enjeu : accÃ©lÃ©rer l'Ã©lectrification rurale tout en rÃ©duisant la dÃ©pendance au bois et au charbon. Le dashboard croise ces dimensions pour orienter des actions ciblÃ©es.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2026-08-25T16:10:42Z</dcterms:created>
  <dcterms:modified xsi:type="dcterms:W3CDTF">2026-08-25T16:10:42Z</dcterms:modified>
</cp:coreProperties>
</file>